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6" r:id="rId3"/>
  </p:sldMasterIdLst>
  <p:handoutMasterIdLst>
    <p:handoutMasterId r:id="rId34"/>
  </p:handoutMasterIdLst>
  <p:sldIdLst>
    <p:sldId id="256" r:id="rId4"/>
    <p:sldId id="363" r:id="rId5"/>
    <p:sldId id="372" r:id="rId6"/>
    <p:sldId id="373" r:id="rId7"/>
    <p:sldId id="374" r:id="rId8"/>
    <p:sldId id="375" r:id="rId9"/>
    <p:sldId id="376" r:id="rId10"/>
    <p:sldId id="380" r:id="rId11"/>
    <p:sldId id="379" r:id="rId12"/>
    <p:sldId id="378" r:id="rId13"/>
    <p:sldId id="377" r:id="rId14"/>
    <p:sldId id="381" r:id="rId15"/>
    <p:sldId id="382" r:id="rId16"/>
    <p:sldId id="385" r:id="rId17"/>
    <p:sldId id="383" r:id="rId18"/>
    <p:sldId id="364" r:id="rId19"/>
    <p:sldId id="365" r:id="rId20"/>
    <p:sldId id="290" r:id="rId21"/>
    <p:sldId id="368" r:id="rId22"/>
    <p:sldId id="304" r:id="rId23"/>
    <p:sldId id="303" r:id="rId24"/>
    <p:sldId id="259" r:id="rId25"/>
    <p:sldId id="291" r:id="rId26"/>
    <p:sldId id="369" r:id="rId27"/>
    <p:sldId id="367" r:id="rId28"/>
    <p:sldId id="370" r:id="rId29"/>
    <p:sldId id="287" r:id="rId30"/>
    <p:sldId id="387" r:id="rId31"/>
    <p:sldId id="264" r:id="rId32"/>
    <p:sldId id="309" r:id="rId3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76" y="56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2" d="100"/>
        <a:sy n="62" d="100"/>
      </p:scale>
      <p:origin x="0" y="-20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0CAD0-D6A0-4EFF-A4A0-945D4DA4D9D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A2DDC-E578-4A15-9256-E5CA94B8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23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6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8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6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80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73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9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29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67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99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2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78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720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9685" y="-193964"/>
            <a:ext cx="12551370" cy="72459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039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D73F9D58-3E08-B546-9881-7801BAE3B6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9685" y="-193964"/>
            <a:ext cx="12551370" cy="50453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8FA44B61-8CA6-5A4A-8028-9A240928D3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14009" y="931834"/>
            <a:ext cx="2988511" cy="298773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17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28642-D1A6-D34D-AF8A-38AB93435B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9685" y="-193964"/>
            <a:ext cx="6827144" cy="72459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8FA44B61-8CA6-5A4A-8028-9A240928D3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32250" y="2214107"/>
            <a:ext cx="2430419" cy="2429786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89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28642-D1A6-D34D-AF8A-38AB93435B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26186" y="-1"/>
            <a:ext cx="4006430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12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28642-D1A6-D34D-AF8A-38AB93435B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59382" y="-1"/>
            <a:ext cx="4006430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822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28642-D1A6-D34D-AF8A-38AB93435B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5827" y="3539600"/>
            <a:ext cx="3539988" cy="27117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58AE8519-78FB-684C-9975-FBB1F19FAA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26006" y="3539600"/>
            <a:ext cx="3539988" cy="27117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A58862C-B2CA-F448-9DE7-A8919CE5FCB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86185" y="3539600"/>
            <a:ext cx="3539988" cy="27117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032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A58862C-B2CA-F448-9DE7-A8919CE5FCB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960710"/>
            <a:ext cx="7091404" cy="4897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616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28642-D1A6-D34D-AF8A-38AB93435B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5827" y="596375"/>
            <a:ext cx="3539988" cy="27117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58AE8519-78FB-684C-9975-FBB1F19FAA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26006" y="596375"/>
            <a:ext cx="3539988" cy="27117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A58862C-B2CA-F448-9DE7-A8919CE5FCB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86185" y="596375"/>
            <a:ext cx="3539988" cy="27117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8421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A58862C-B2CA-F448-9DE7-A8919CE5FCB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0596" y="1960710"/>
            <a:ext cx="7091404" cy="4897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6571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60DCC4A6-2FD6-F747-A2BE-498F7FF757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9685" y="-193964"/>
            <a:ext cx="12551370" cy="4844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4191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60DCC4A6-2FD6-F747-A2BE-498F7FF757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5331" y="2206421"/>
            <a:ext cx="2530510" cy="25298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941A67B-980B-DF43-90C4-DF4F7E3B58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2162" y="2206421"/>
            <a:ext cx="2530510" cy="25298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9E2E14A-C4D1-704A-828D-BDEDAE3AFE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96158" y="2206421"/>
            <a:ext cx="2530510" cy="25298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1791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843395A0-58FE-1B42-95C8-016C9171C6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47502" y="1267557"/>
            <a:ext cx="2405694" cy="240506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367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843395A0-58FE-1B42-95C8-016C9171C6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99271" y="2576377"/>
            <a:ext cx="1656199" cy="165576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E6A91D4-6DC2-5345-B2B4-58F3C00DFEB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67899" y="2576377"/>
            <a:ext cx="1656199" cy="165576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66D1ACB2-8356-9645-B447-9C49CDC05C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36527" y="2576377"/>
            <a:ext cx="1656199" cy="165576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200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B3D5971-1D6A-8241-B026-80AD9FD9A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9685" y="-193964"/>
            <a:ext cx="12551370" cy="48574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66D1ACB2-8356-9645-B447-9C49CDC05C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84555" y="4188456"/>
            <a:ext cx="933847" cy="93360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DC54CAB7-EB23-F847-BEB0-5584FA6859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947568" y="4188456"/>
            <a:ext cx="933847" cy="93360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B63C59D7-89AA-EB4F-A919-521DB3CD025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0582" y="4188456"/>
            <a:ext cx="933847" cy="93360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AAE56DF-077B-E646-89FF-43ADF7F1D5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73595" y="4188456"/>
            <a:ext cx="933847" cy="93360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796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B3D5971-1D6A-8241-B026-80AD9FD9A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26005" y="606669"/>
            <a:ext cx="6946979" cy="56446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0943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B3D5971-1D6A-8241-B026-80AD9FD9A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5998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9E562AF5-FAC9-A84D-AD5C-A374D2E93A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2" y="0"/>
            <a:ext cx="6095998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7640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B3D5971-1D6A-8241-B026-80AD9FD9A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5826" y="606670"/>
            <a:ext cx="7300167" cy="56446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591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B3D5971-1D6A-8241-B026-80AD9FD9A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604397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DADBEEFD-7546-0D4C-B3C2-9486181922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8026" y="-1"/>
            <a:ext cx="604397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9572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DADBEEFD-7546-0D4C-B3C2-9486181922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-1"/>
            <a:ext cx="6096001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3911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B3D5971-1D6A-8241-B026-80AD9FD9A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429000"/>
            <a:ext cx="604397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DADBEEFD-7546-0D4C-B3C2-9486181922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8026" y="3429000"/>
            <a:ext cx="604397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8959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FDA059C-D99D-3C4A-BA2F-19C2632E3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1"/>
            <a:ext cx="6096001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920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FDA059C-D99D-3C4A-BA2F-19C2632E3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1"/>
            <a:ext cx="6096001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337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FDA059C-D99D-3C4A-BA2F-19C2632E3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-1"/>
            <a:ext cx="6096001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1845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FDA059C-D99D-3C4A-BA2F-19C2632E3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9334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FDA059C-D99D-3C4A-BA2F-19C2632E3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3420587"/>
            <a:ext cx="6096001" cy="34374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F162C5B-4514-F947-B377-A408215A31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9685" y="-193964"/>
            <a:ext cx="6275684" cy="72459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5376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FDA059C-D99D-3C4A-BA2F-19C2632E3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6096001" cy="34374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F162C5B-4514-F947-B377-A408215A31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-193964"/>
            <a:ext cx="6275684" cy="72459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2111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F162C5B-4514-F947-B377-A408215A31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3516" y="-193964"/>
            <a:ext cx="6148168" cy="72459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8" name="Picture Placeholder 31">
            <a:extLst>
              <a:ext uri="{FF2B5EF4-FFF2-40B4-BE49-F238E27FC236}">
                <a16:creationId xmlns:a16="http://schemas.microsoft.com/office/drawing/2014/main" id="{E9511ABF-E063-6C4A-99BE-8B7C7FAF30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9477" y="668010"/>
            <a:ext cx="2624530" cy="5545708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8365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1">
            <a:extLst>
              <a:ext uri="{FF2B5EF4-FFF2-40B4-BE49-F238E27FC236}">
                <a16:creationId xmlns:a16="http://schemas.microsoft.com/office/drawing/2014/main" id="{E9511ABF-E063-6C4A-99BE-8B7C7FAF30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89427" y="668010"/>
            <a:ext cx="2624530" cy="5545708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9849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94E6288-BFA5-8B4A-9A86-A8A9FF485A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9685" y="-193964"/>
            <a:ext cx="12551370" cy="3719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25BB659-5809-554B-9B37-6CF645A2B0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97549" y="2842632"/>
            <a:ext cx="4206707" cy="55824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9839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25BB659-5809-554B-9B37-6CF645A2B0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1521" y="1217999"/>
            <a:ext cx="3367261" cy="44684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3364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94E6288-BFA5-8B4A-9A86-A8A9FF485A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604157"/>
            <a:ext cx="12192000" cy="3655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25BB659-5809-554B-9B37-6CF645A2B0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3219" y="1630801"/>
            <a:ext cx="6285279" cy="39071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4643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94E6288-BFA5-8B4A-9A86-A8A9FF485A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985837"/>
            <a:ext cx="12192000" cy="50349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25BB659-5809-554B-9B37-6CF645A2B0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16701" y="2757375"/>
            <a:ext cx="1221255" cy="15011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3E61B1AC-D226-1F43-91A1-F509ADE0A58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352005" y="2757375"/>
            <a:ext cx="1221255" cy="15011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CEF3DE9-FC12-564D-9638-6AAC8D7DD1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85373" y="2757375"/>
            <a:ext cx="1221255" cy="15011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3183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F162C5B-4514-F947-B377-A408215A31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9685" y="-193964"/>
            <a:ext cx="6275684" cy="72459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736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B3D5971-1D6A-8241-B026-80AD9FD9A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79685" y="-193964"/>
            <a:ext cx="12551370" cy="43292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9694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232D-8A9C-4413-C82B-B83FE178E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18060-F91E-9BB9-E47E-295683EFD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75B50-F57B-6D10-D693-D83BEFA24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B0573-AE8E-F71F-10AA-85E8D1FB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8F4D4-3608-2936-0788-CA43B0A5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375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C40A-D512-F2E0-DD98-C300818F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060EA-524D-78B1-6703-E74983A88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CE530-EC12-25D6-BB4C-0EE0BF45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38CF1-05F4-1984-0418-461F3B673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D61F5-B666-3251-FD11-B2342DFB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5563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96148-E91A-E6CF-6B4B-2FA27ACF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88B75-78E6-3E07-3997-90F838CB6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9B722-9EBE-4B39-7F4C-CB81A84D1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D5326-ACFE-33CA-F2E6-9197C517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BC339-008C-951F-9233-9BD910C2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9352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3BAD5-0682-8B8E-71BB-399E98E2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EFE25-11A8-10A3-E13F-6A12F6745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FADB9-52F2-4127-11BB-EB9FE777E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FC2B9-CD70-F360-EA6E-A56CF3FD8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D08C2-AECE-B04C-BE39-96B4D58F4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0FB73-0A22-AE41-D279-E5EDD2F1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3179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6CFD-73ED-3EB3-CEC0-6FF189BE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FE429-1AB3-5121-2BA8-3E5C24EE4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B115E-97EA-1480-F787-8473F9C45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E23B3A-A809-D499-876A-A523E2018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976412-D16A-FF70-57BC-AB9A826D4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6C6155-07E5-B2BD-0DFE-E7DA00D2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32C749-6694-9987-F665-33DEC8CCA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7D3151-915B-C1DC-2949-54C6F8B3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5203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8A9CE-DB7D-785E-1C65-06D0E3AB0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86C65-9BB7-A212-7EF4-75A47476A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99A06-D6DB-2E4D-7C44-2EBABA3D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D31A0-CCEF-E140-1D6B-A1B81E0A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4870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1CE25F-FBA5-486B-3459-CD1824A1D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7E8484-B145-3215-0BE7-C0A12F32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BC79B-5016-6E9A-F94B-2D0FBF6DB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6432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915A-6631-811E-9A15-319FC8EA0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EEC5-F357-E3DB-6027-591F2B7C7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303D2-F52D-DC69-1000-C450E6FF2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B7370-2676-D28D-3DEB-7A93F870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BD49D-A264-6312-F424-77960E7B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D0A8D-A617-68FF-FB3A-B59B984AA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5480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A012-EE16-559F-87AA-F89595056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BC1C40-667D-D33D-E41D-F7FAB05AA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C9AD3-0805-A799-E128-68C3B4C51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EF62C-BAD9-B383-DDB4-D4CD89A3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7851A-418C-475C-F006-FFACD8363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D59A0-1376-64B3-8918-872571BE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14142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0887F-EB72-F796-E00C-D6F108E3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A2BE0E-02DE-0382-BC02-E7E73A629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5F752-02C5-41AD-AF6F-C900BD548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446D9-B029-AC41-6D72-3FAE05EE7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58AAB-AFC4-3DBB-03D9-F24D9A961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23405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8D5EA-EC01-E199-1671-A7DD872A6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BD8B4-9C9F-4172-2F27-5CDBE97FA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7D81C-E18D-4329-D30A-181CF3B91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D9033-D775-DCC8-22BC-8FEC736D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005DD-AABB-A686-A664-D498ECA4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89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26859-79D1-4C20-B99F-42C1E047383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4A20D-3F67-459A-85DA-69607519E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7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17"/>
            <a:fld id="{C764DE79-268F-4C1A-8933-263129D2AF90}" type="datetimeFigureOut">
              <a:rPr lang="en-US" smtClean="0">
                <a:solidFill>
                  <a:srgbClr val="FFFFFF">
                    <a:tint val="75000"/>
                  </a:srgbClr>
                </a:solidFill>
              </a:rPr>
              <a:pPr defTabSz="914217"/>
              <a:t>10/16/2026</a:t>
            </a:fld>
            <a:endParaRPr lang="en-US" dirty="0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17"/>
            <a:endParaRPr lang="en-US" dirty="0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17"/>
            <a:fld id="{48F63A3B-78C7-47BE-AE5E-E10140E04643}" type="slidenum">
              <a:rPr lang="en-US" smtClean="0">
                <a:solidFill>
                  <a:srgbClr val="FFFFFF">
                    <a:tint val="75000"/>
                  </a:srgbClr>
                </a:solidFill>
              </a:rPr>
              <a:pPr defTabSz="914217"/>
              <a:t>‹#›</a:t>
            </a:fld>
            <a:endParaRPr lang="en-US" dirty="0">
              <a:solidFill>
                <a:srgbClr val="FFFFFF">
                  <a:tint val="75000"/>
                </a:srgb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0EC9C-7AA6-034B-8A74-39E46AF9908C}"/>
              </a:ext>
            </a:extLst>
          </p:cNvPr>
          <p:cNvSpPr txBox="1"/>
          <p:nvPr userDrawn="1"/>
        </p:nvSpPr>
        <p:spPr>
          <a:xfrm>
            <a:off x="11841189" y="305271"/>
            <a:ext cx="389815" cy="246203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0E2A6B-A809-4840-BF14-8648BC0BDF87}" type="slidenum">
              <a:rPr kumimoji="0" lang="id-ID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Montserrat" charset="0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id-ID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charset="0"/>
                <a:ea typeface="Montserrat" charset="0"/>
                <a:cs typeface="Montserrat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359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9568FE-2E03-19ED-8AB3-8281F56DF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C26EA-D65D-DDB7-9350-89ED2139B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333C5-F1B6-8128-0378-38A9C998F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F632B8-F484-EE4F-9D17-208DC39AC530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E7917-4CFB-F162-4EF1-AFD9DA48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9DB00-6977-0ED9-BB82-21360DA12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FA2119-AB35-7A46-8F28-13130CE2B85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684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13" Type="http://schemas.openxmlformats.org/officeDocument/2006/relationships/image" Target="../media/image25.png"/><Relationship Id="rId18" Type="http://schemas.openxmlformats.org/officeDocument/2006/relationships/image" Target="../media/image30.jpeg"/><Relationship Id="rId3" Type="http://schemas.openxmlformats.org/officeDocument/2006/relationships/image" Target="../media/image15.png"/><Relationship Id="rId21" Type="http://schemas.openxmlformats.org/officeDocument/2006/relationships/image" Target="../media/image33.jpeg"/><Relationship Id="rId7" Type="http://schemas.openxmlformats.org/officeDocument/2006/relationships/image" Target="../media/image19.jpeg"/><Relationship Id="rId12" Type="http://schemas.openxmlformats.org/officeDocument/2006/relationships/image" Target="../media/image24.jpeg"/><Relationship Id="rId17" Type="http://schemas.openxmlformats.org/officeDocument/2006/relationships/image" Target="../media/image29.jpeg"/><Relationship Id="rId2" Type="http://schemas.openxmlformats.org/officeDocument/2006/relationships/image" Target="../media/image1.jpeg"/><Relationship Id="rId16" Type="http://schemas.openxmlformats.org/officeDocument/2006/relationships/image" Target="../media/image28.jpeg"/><Relationship Id="rId20" Type="http://schemas.openxmlformats.org/officeDocument/2006/relationships/image" Target="../media/image3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5" Type="http://schemas.openxmlformats.org/officeDocument/2006/relationships/image" Target="../media/image17.jpeg"/><Relationship Id="rId15" Type="http://schemas.openxmlformats.org/officeDocument/2006/relationships/image" Target="../media/image27.png"/><Relationship Id="rId10" Type="http://schemas.openxmlformats.org/officeDocument/2006/relationships/image" Target="../media/image22.jpeg"/><Relationship Id="rId19" Type="http://schemas.openxmlformats.org/officeDocument/2006/relationships/image" Target="../media/image31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Relationship Id="rId1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63713"/>
          </a:xfrm>
          <a:prstGeom prst="rect">
            <a:avLst/>
          </a:prstGeom>
          <a:solidFill>
            <a:schemeClr val="accent1">
              <a:alpha val="8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05555" y="5507430"/>
            <a:ext cx="4193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CEO SUITES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Indonesia Stock Exchange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17</a:t>
            </a:r>
            <a:r>
              <a:rPr lang="en-US" baseline="30000" dirty="0">
                <a:solidFill>
                  <a:schemeClr val="bg1"/>
                </a:solidFill>
                <a:latin typeface="Arial Narrow" panose="020B0606020202030204" pitchFamily="34" charset="0"/>
              </a:rPr>
              <a:t>th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 Floor, Jl. </a:t>
            </a:r>
            <a:r>
              <a:rPr lang="en-US" dirty="0" err="1">
                <a:solidFill>
                  <a:schemeClr val="bg1"/>
                </a:solidFill>
                <a:latin typeface="Arial Narrow" panose="020B0606020202030204" pitchFamily="34" charset="0"/>
              </a:rPr>
              <a:t>Jend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Arial Narrow" panose="020B0606020202030204" pitchFamily="34" charset="0"/>
              </a:rPr>
              <a:t>Sudirman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Narrow" panose="020B0606020202030204" pitchFamily="34" charset="0"/>
              </a:rPr>
              <a:t>Kav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. 52-53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Jakarta 12190,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4849" y="2776283"/>
            <a:ext cx="7924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CK</a:t>
            </a:r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COACHING GROUP</a:t>
            </a:r>
          </a:p>
        </p:txBody>
      </p:sp>
    </p:spTree>
    <p:extLst>
      <p:ext uri="{BB962C8B-B14F-4D97-AF65-F5344CB8AC3E}">
        <p14:creationId xmlns:p14="http://schemas.microsoft.com/office/powerpoint/2010/main" val="418862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unded in 1979, TaylorMade is being sold to a South Korean private equity firm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8"/>
            <a:ext cx="12192000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0" y="-4"/>
            <a:ext cx="12192000" cy="7710711"/>
          </a:xfrm>
          <a:prstGeom prst="rect">
            <a:avLst/>
          </a:prstGeom>
          <a:solidFill>
            <a:schemeClr val="accent1">
              <a:alpha val="8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90438" y="2810384"/>
            <a:ext cx="827822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CEO COACHING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00855" y="4098805"/>
            <a:ext cx="7956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 A TAILOR MADE COACHING PROGRAM ” </a:t>
            </a:r>
          </a:p>
        </p:txBody>
      </p:sp>
    </p:spTree>
    <p:extLst>
      <p:ext uri="{BB962C8B-B14F-4D97-AF65-F5344CB8AC3E}">
        <p14:creationId xmlns:p14="http://schemas.microsoft.com/office/powerpoint/2010/main" val="273474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7238" y="3836506"/>
            <a:ext cx="5546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-18850"/>
            <a:ext cx="12192000" cy="7710711"/>
          </a:xfrm>
          <a:prstGeom prst="rect">
            <a:avLst/>
          </a:prstGeom>
          <a:solidFill>
            <a:schemeClr val="accent1">
              <a:alpha val="8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26089" y="2065667"/>
            <a:ext cx="6139822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endParaRPr kumimoji="0" lang="en-US" sz="19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3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https://f.ptcdn.info/847/027/000/1422315547-ceosetlnw-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6545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780691" y="2718239"/>
            <a:ext cx="6138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JOB OF A </a:t>
            </a:r>
            <a:r>
              <a:rPr lang="en-US" sz="40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  <a:r>
              <a:rPr lang="en-US" sz="3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VERY CHALLENGING!</a:t>
            </a:r>
          </a:p>
        </p:txBody>
      </p:sp>
    </p:spTree>
    <p:extLst>
      <p:ext uri="{BB962C8B-B14F-4D97-AF65-F5344CB8AC3E}">
        <p14:creationId xmlns:p14="http://schemas.microsoft.com/office/powerpoint/2010/main" val="1596204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https://themanufacturer-cdn-1.s3.eu-west-2.amazonaws.com/wp-content/uploads/2020/08/13063413/COVID-19-has-taken-a-sledgehammer-to-the-global-market-image-courtesy-of-APS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9769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2468452"/>
            <a:ext cx="1131964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PRESSURE TO PERFORM ON </a:t>
            </a:r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CEOs</a:t>
            </a:r>
            <a:r>
              <a:rPr lang="en-US" sz="4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HIGHER THAN EVER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548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shutterstock 79249419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-11167"/>
            <a:ext cx="12192000" cy="6880334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03582" y="3039366"/>
            <a:ext cx="114772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66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</a:t>
            </a:r>
            <a:r>
              <a:rPr lang="en-US" sz="6600" b="1" noProof="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COMPETITION</a:t>
            </a:r>
          </a:p>
        </p:txBody>
      </p:sp>
    </p:spTree>
    <p:extLst>
      <p:ext uri="{BB962C8B-B14F-4D97-AF65-F5344CB8AC3E}">
        <p14:creationId xmlns:p14="http://schemas.microsoft.com/office/powerpoint/2010/main" val="1963108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he pace of change is the slowest it will ever b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10510" y="3292"/>
            <a:ext cx="12213020" cy="6845184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1551" y="2561350"/>
            <a:ext cx="98061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FAST PACE OF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CHANGING</a:t>
            </a:r>
          </a:p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567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80334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8172" y="2689331"/>
            <a:ext cx="117085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CHANGING 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CUSTOMER DEMANDS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39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ierarchical vs Flat Organizational Structure [with Pros &amp; Cons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-49267"/>
            <a:ext cx="12192000" cy="6902012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7562" y="2971252"/>
            <a:ext cx="114772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FLATTER 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ORGANIZATIONS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009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biobuzz.io/wp-content/uploads/2021/06/Talent-War-202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80334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5315" y="2571857"/>
            <a:ext cx="114772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COMPETITION 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GOOD TALENT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473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miro.medium.com/v2/resize:fit:983/1*99z9ucZFjGiKgDfPmCYpZg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80334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718" y="2519308"/>
            <a:ext cx="11582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TECHNOLOGICAL</a:t>
            </a:r>
            <a:r>
              <a:rPr kumimoji="0" lang="en-US" sz="66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    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6600" b="1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ADVANCEMENTS</a:t>
            </a:r>
          </a:p>
        </p:txBody>
      </p:sp>
    </p:spTree>
    <p:extLst>
      <p:ext uri="{BB962C8B-B14F-4D97-AF65-F5344CB8AC3E}">
        <p14:creationId xmlns:p14="http://schemas.microsoft.com/office/powerpoint/2010/main" val="3655883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www.conselium.com/wp-content/uploads/2016/06/diverse-workfor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-11167"/>
            <a:ext cx="12192000" cy="6880334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7351" y="2473101"/>
            <a:ext cx="1147729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GLOBALLY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DIVERSE WORKFORCE</a:t>
            </a:r>
          </a:p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937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s2.bukalapak.com/bukalapak-kontenz-production/content_attachments/websites/1/91027/w-740/Arti_CEO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2192000" cy="6896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717238" y="3836506"/>
            <a:ext cx="5546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6873765"/>
          </a:xfrm>
          <a:prstGeom prst="rect">
            <a:avLst/>
          </a:prstGeom>
          <a:solidFill>
            <a:schemeClr val="accent1">
              <a:alpha val="7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0621" y="2050606"/>
            <a:ext cx="110989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DOES A CEO ASK FOR HELP?</a:t>
            </a:r>
          </a:p>
        </p:txBody>
      </p:sp>
    </p:spTree>
    <p:extLst>
      <p:ext uri="{BB962C8B-B14F-4D97-AF65-F5344CB8AC3E}">
        <p14:creationId xmlns:p14="http://schemas.microsoft.com/office/powerpoint/2010/main" val="178071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GROW Coaching model - Toolshe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78548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27277" y="2638745"/>
            <a:ext cx="55494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COACH</a:t>
            </a:r>
          </a:p>
        </p:txBody>
      </p:sp>
    </p:spTree>
    <p:extLst>
      <p:ext uri="{BB962C8B-B14F-4D97-AF65-F5344CB8AC3E}">
        <p14:creationId xmlns:p14="http://schemas.microsoft.com/office/powerpoint/2010/main" val="3784878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How Long Should Executive Coaching Last? | Boldl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726" cy="68500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-11852"/>
            <a:ext cx="12192000" cy="6873765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0888" y="3390900"/>
            <a:ext cx="10962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SOMEONE THAT SEES BEYOND YOUR LIMITS AND GUIDES YOU TO GREATNESS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96627" y="2216599"/>
            <a:ext cx="55494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COACH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45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-105103"/>
            <a:ext cx="12192000" cy="6963103"/>
          </a:xfrm>
          <a:prstGeom prst="rect">
            <a:avLst/>
          </a:prstGeom>
          <a:solidFill>
            <a:schemeClr val="accent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74668" y="901395"/>
            <a:ext cx="88185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noProof="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TOP PERFORMER HAS A COACH!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12" y="3118821"/>
            <a:ext cx="3396974" cy="3490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229" y="3127972"/>
            <a:ext cx="3550414" cy="34815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316" y="3137907"/>
            <a:ext cx="3400494" cy="34815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1720261" y="3339633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ATHLETES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8345" y="3332929"/>
            <a:ext cx="202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ENTERTAINERS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3176" y="3209830"/>
            <a:ext cx="2445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 &amp; BUSINESS OWNERS</a:t>
            </a:r>
          </a:p>
        </p:txBody>
      </p:sp>
      <p:pic>
        <p:nvPicPr>
          <p:cNvPr id="21" name="Picture 2" descr="Tiger Woods: How I Play Golf: Amazon.co.uk: Woods, Tiger: 9780446529310:  Book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312" y="3915538"/>
            <a:ext cx="1017903" cy="126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ory McIlroy, the world's top-ranked golfer, to play Travelers in Jun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216" y="3915538"/>
            <a:ext cx="1147100" cy="1262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ristiano Ronaldo - Wikipedia bahasa Indonesia, ensiklopedia beba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316" y="3915538"/>
            <a:ext cx="1239819" cy="126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Barcelona Siapkan Laga Perpisahan buat Messi?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13" y="5178287"/>
            <a:ext cx="1020002" cy="1431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Rafael Nadal - Wikipédi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782" y="5178287"/>
            <a:ext cx="1158203" cy="1431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Michael Jordan | Biography, Stats, &amp; Facts | Britannica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986" y="5178285"/>
            <a:ext cx="1237149" cy="143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BTS Fans came here and think about the BTS Group.🤩🤩🤩 in 2023 | Bts group  photos, Photoshoot bts, Bts group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439" y="3888865"/>
            <a:ext cx="1152095" cy="130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Beyoncé - Wikipedia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535" y="3888865"/>
            <a:ext cx="1256628" cy="131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Justin Bieber - Wikipedia bahasa Indonesia, ensiklopedia beba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164" y="3888866"/>
            <a:ext cx="1143417" cy="128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BLACKPINK | SHOP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551" y="5178283"/>
            <a:ext cx="1147984" cy="143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Taylor Swift Sabet Penghargaan Tertinggi VMA 2023, Total Raih 9 Kemenangan  | Republika Online Mobil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535" y="5192929"/>
            <a:ext cx="1256629" cy="1416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09749" y="5178284"/>
            <a:ext cx="1155832" cy="1431240"/>
          </a:xfrm>
          <a:prstGeom prst="rect">
            <a:avLst/>
          </a:prstGeom>
        </p:spPr>
      </p:pic>
      <p:pic>
        <p:nvPicPr>
          <p:cNvPr id="1062" name="Picture 38" descr="Larry Page - Wikipedia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2197" y="3887428"/>
            <a:ext cx="1061958" cy="131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Google Chairman Eric Schmidt: “The Internet Will Disappear” – The Hollywood  Reporter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884" y="3876795"/>
            <a:ext cx="1220532" cy="131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50" descr="No Words Can Erase This Pain&quot;: Google CEO Sundar Pichai On Israel-Hamas War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3111" y="3856161"/>
            <a:ext cx="1233699" cy="134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Picture 54" descr="Apple boss Tim Cook was paid nearly $100m last year, filings show | Tim Cook  | The Guardian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330" y="5188217"/>
            <a:ext cx="1199812" cy="143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Former Bain, eBay CEO John Donahoe takes top job at Nike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8103" y="5188215"/>
            <a:ext cx="1205540" cy="143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8" name="Picture 64" descr="Sheryl Sandberg's 14-Year Career at Facebook: Growth and Controversy - WSJ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316" y="5188218"/>
            <a:ext cx="1098560" cy="1431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65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95740" y="2580046"/>
            <a:ext cx="45421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COACHING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1252" y="2580045"/>
            <a:ext cx="51252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MENTORING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5330" y="4011553"/>
            <a:ext cx="4231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Dole out words of wisdom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Does not have full responsibility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209" y="3998963"/>
            <a:ext cx="42310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Roll up their sleeves and get their hands dirty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Get in the arena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Take responsibility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Not Equal 1"/>
          <p:cNvSpPr/>
          <p:nvPr/>
        </p:nvSpPr>
        <p:spPr>
          <a:xfrm>
            <a:off x="5476458" y="2773017"/>
            <a:ext cx="1192695" cy="646045"/>
          </a:xfrm>
          <a:prstGeom prst="mathNotEqual">
            <a:avLst>
              <a:gd name="adj1" fmla="val 23520"/>
              <a:gd name="adj2" fmla="val 6599996"/>
              <a:gd name="adj3" fmla="val 11760"/>
            </a:avLst>
          </a:prstGeom>
          <a:solidFill>
            <a:srgbClr val="9900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82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-105103"/>
            <a:ext cx="12192000" cy="6963103"/>
          </a:xfrm>
          <a:prstGeom prst="rect">
            <a:avLst/>
          </a:prstGeom>
          <a:solidFill>
            <a:schemeClr val="accent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05938" y="-106716"/>
            <a:ext cx="6096002" cy="696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3895" y="2458975"/>
            <a:ext cx="4804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  <a:r>
              <a:rPr lang="en-US" sz="2800" b="1" baseline="30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Annual Global: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CEO Survey – Asia Pacific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PwC, January 2024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40556" y="1411142"/>
            <a:ext cx="544664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63% of Asia Pacific CEOs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believed their companies would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no longer viable in ten years’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time if they continue on their current path.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 descr="File:Logo-pwc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224" y="5523781"/>
            <a:ext cx="1402126" cy="107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31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-105103"/>
            <a:ext cx="12192000" cy="6963103"/>
          </a:xfrm>
          <a:prstGeom prst="rect">
            <a:avLst/>
          </a:prstGeom>
          <a:solidFill>
            <a:schemeClr val="accent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05938" y="-106716"/>
            <a:ext cx="6096002" cy="696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3712" y="2160804"/>
            <a:ext cx="4804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According to a study of over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200 CEOs by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Stanford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University and Miles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20068" y="1550290"/>
            <a:ext cx="544664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majority of CEOs still don’t get the coaching they need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30% of CEO use a coach!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" name="Picture 2" descr="Stanford University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1805" y="5555177"/>
            <a:ext cx="2454965" cy="107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58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-9939" y="-19878"/>
            <a:ext cx="12192000" cy="696310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F95123-8949-9C47-8CA9-C5B167F363CF}"/>
              </a:ext>
            </a:extLst>
          </p:cNvPr>
          <p:cNvSpPr txBox="1"/>
          <p:nvPr/>
        </p:nvSpPr>
        <p:spPr>
          <a:xfrm>
            <a:off x="394367" y="277749"/>
            <a:ext cx="344382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217"/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 WELCOME NOTE</a:t>
            </a:r>
          </a:p>
        </p:txBody>
      </p:sp>
      <p:pic>
        <p:nvPicPr>
          <p:cNvPr id="20" name="Picture 61" descr="Mr Song Crop 3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87617" y="982824"/>
            <a:ext cx="1666578" cy="1657891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23DBDE7-B370-0246-AEFC-F8C9E8B5C8C1}"/>
              </a:ext>
            </a:extLst>
          </p:cNvPr>
          <p:cNvSpPr/>
          <p:nvPr/>
        </p:nvSpPr>
        <p:spPr>
          <a:xfrm>
            <a:off x="5227981" y="2762375"/>
            <a:ext cx="369241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217"/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CK Song, PhD</a:t>
            </a:r>
          </a:p>
          <a:p>
            <a:pPr defTabSz="914217"/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     CCG Founder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5757D385-3B4B-B84C-9D4A-F823DD8EF65D}"/>
              </a:ext>
            </a:extLst>
          </p:cNvPr>
          <p:cNvSpPr txBox="1">
            <a:spLocks/>
          </p:cNvSpPr>
          <p:nvPr/>
        </p:nvSpPr>
        <p:spPr>
          <a:xfrm>
            <a:off x="1560442" y="3818313"/>
            <a:ext cx="9213284" cy="1312160"/>
          </a:xfrm>
          <a:prstGeom prst="rect">
            <a:avLst/>
          </a:prstGeom>
        </p:spPr>
        <p:txBody>
          <a:bodyPr vert="horz" wrap="square" lIns="108717" tIns="54359" rIns="108717" bIns="5435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43818">
              <a:lnSpc>
                <a:spcPts val="2150"/>
              </a:lnSpc>
            </a:pPr>
            <a:endParaRPr lang="en-US" sz="2000" dirty="0">
              <a:solidFill>
                <a:srgbClr val="FFFFFF"/>
              </a:solidFill>
              <a:latin typeface="Arial" panose="020B0604020202020204" pitchFamily="34" charset="0"/>
              <a:ea typeface="Segoe UI Emoji" panose="020B0502040204020203" pitchFamily="34" charset="0"/>
              <a:cs typeface="Arial" panose="020B0604020202020204" pitchFamily="34" charset="0"/>
            </a:endParaRPr>
          </a:p>
          <a:p>
            <a:pPr defTabSz="543818">
              <a:lnSpc>
                <a:spcPts val="2150"/>
              </a:lnSpc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CK Coaching Group (CCG) was founded to provide coaching and counseling that many leaders and organization need to tackle their business challenges and capture great opportunities.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0172"/>
            <a:ext cx="12192000" cy="587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9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-105103"/>
            <a:ext cx="12192000" cy="696310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CAF245-0C55-7644-8D7E-51AA91206ABD}"/>
              </a:ext>
            </a:extLst>
          </p:cNvPr>
          <p:cNvSpPr/>
          <p:nvPr/>
        </p:nvSpPr>
        <p:spPr>
          <a:xfrm rot="16200000">
            <a:off x="6058539" y="-3350115"/>
            <a:ext cx="74919" cy="949130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1B2460F-41EA-934A-ABFC-D87A22028AE4}"/>
              </a:ext>
            </a:extLst>
          </p:cNvPr>
          <p:cNvSpPr txBox="1">
            <a:spLocks/>
          </p:cNvSpPr>
          <p:nvPr/>
        </p:nvSpPr>
        <p:spPr>
          <a:xfrm>
            <a:off x="776177" y="4246102"/>
            <a:ext cx="5129633" cy="848443"/>
          </a:xfrm>
          <a:prstGeom prst="rect">
            <a:avLst/>
          </a:prstGeom>
        </p:spPr>
        <p:txBody>
          <a:bodyPr vert="horz" wrap="square" lIns="108717" tIns="54359" rIns="108717" bIns="5435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43818"/>
            <a:r>
              <a:rPr lang="en-US" sz="2000" b="1" dirty="0">
                <a:solidFill>
                  <a:srgbClr val="FFFFFF"/>
                </a:solidFill>
                <a:latin typeface="Arial Narrow" panose="020B0606020202030204" pitchFamily="34" charset="0"/>
              </a:rPr>
              <a:t>Our vision is to unlock the potential of every leaders that impact to overall people’s lives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5F866EF-1FD9-0C45-BA63-FE666AC508DF}"/>
              </a:ext>
            </a:extLst>
          </p:cNvPr>
          <p:cNvSpPr txBox="1">
            <a:spLocks/>
          </p:cNvSpPr>
          <p:nvPr/>
        </p:nvSpPr>
        <p:spPr>
          <a:xfrm>
            <a:off x="6286189" y="4273656"/>
            <a:ext cx="5129633" cy="1217775"/>
          </a:xfrm>
          <a:prstGeom prst="rect">
            <a:avLst/>
          </a:prstGeom>
        </p:spPr>
        <p:txBody>
          <a:bodyPr vert="horz" wrap="square" lIns="108717" tIns="54359" rIns="108717" bIns="54359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43818"/>
            <a:r>
              <a:rPr lang="en-US" sz="2000" b="1" dirty="0">
                <a:solidFill>
                  <a:srgbClr val="FFFFFF"/>
                </a:solidFill>
                <a:latin typeface="Arial Narrow" panose="020B0606020202030204" pitchFamily="34" charset="0"/>
              </a:rPr>
              <a:t>Our mission is to grow by growing others (clients, colleagues, community) to build success and achieve their full potential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CF677-6076-AC43-A859-81AFAA623DDC}"/>
              </a:ext>
            </a:extLst>
          </p:cNvPr>
          <p:cNvSpPr txBox="1"/>
          <p:nvPr/>
        </p:nvSpPr>
        <p:spPr>
          <a:xfrm>
            <a:off x="1608142" y="3595876"/>
            <a:ext cx="3465704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VISION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3CF677-6076-AC43-A859-81AFAA623DDC}"/>
              </a:ext>
            </a:extLst>
          </p:cNvPr>
          <p:cNvSpPr txBox="1"/>
          <p:nvPr/>
        </p:nvSpPr>
        <p:spPr>
          <a:xfrm>
            <a:off x="7118154" y="3595876"/>
            <a:ext cx="3465704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MISSION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email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937" y="2184400"/>
            <a:ext cx="1080113" cy="108011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725" y="2299773"/>
            <a:ext cx="1054561" cy="105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8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-105103"/>
            <a:ext cx="12192000" cy="6963103"/>
          </a:xfrm>
          <a:prstGeom prst="rect">
            <a:avLst/>
          </a:prstGeom>
          <a:solidFill>
            <a:schemeClr val="accent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1283" y="1122363"/>
            <a:ext cx="11109434" cy="5034455"/>
          </a:xfrm>
          <a:prstGeom prst="rect">
            <a:avLst/>
          </a:prstGeom>
          <a:solidFill>
            <a:schemeClr val="accent1">
              <a:lumMod val="20000"/>
              <a:lumOff val="8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79580" y="1378527"/>
            <a:ext cx="3487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2941" y="2297429"/>
            <a:ext cx="5202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/>
                </a:solidFill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EMBRACE OPPORTUNITIES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2941" y="2882887"/>
            <a:ext cx="97010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We help leaders and business owners </a:t>
            </a:r>
            <a:r>
              <a:rPr lang="en-US" sz="2400" b="1" dirty="0"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tackling their most critical challenges, develop leadership skills, create new ideas and growth mindset </a:t>
            </a:r>
            <a:r>
              <a:rPr lang="en-US" sz="2400" dirty="0"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into enduring business capabilities, and achieving best result for the future of their business</a:t>
            </a:r>
            <a:endParaRPr lang="en-US" sz="2400" b="1" dirty="0">
              <a:latin typeface="Arial" panose="020B0604020202020204" pitchFamily="34" charset="0"/>
              <a:ea typeface="Segoe UI Emoji" panose="020B0502040204020203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ea typeface="Segoe UI Emoji" panose="020B0502040204020203" pitchFamily="34" charset="0"/>
                <a:cs typeface="Arial" panose="020B0604020202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6860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963103"/>
          </a:xfrm>
          <a:prstGeom prst="rect">
            <a:avLst/>
          </a:prstGeom>
          <a:solidFill>
            <a:schemeClr val="accent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0519" y="2250662"/>
            <a:ext cx="1013197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Values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lead with Respect and Integrity</a:t>
            </a:r>
            <a:endParaRPr kumimoji="0" lang="en-US" sz="4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1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-10510" y="986981"/>
            <a:ext cx="12192000" cy="5930653"/>
          </a:xfrm>
          <a:prstGeom prst="rect">
            <a:avLst/>
          </a:prstGeom>
          <a:solidFill>
            <a:schemeClr val="accent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55712"/>
            <a:ext cx="12192000" cy="1516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2660" y="123244"/>
            <a:ext cx="10846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SERVICE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Redefining the way things are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8951" y="2097758"/>
            <a:ext cx="50740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LEADERSHIP ADVISORY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1432" y="3563732"/>
            <a:ext cx="96492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 Narrow" panose="020B0606020202030204" pitchFamily="34" charset="0"/>
                <a:cs typeface="Arial" panose="020B0604020202020204" pitchFamily="34" charset="0"/>
              </a:rPr>
              <a:t> GROUP COACHING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PREMIUM COACHING (Tailor Made Coaching Program)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4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26991"/>
            <a:ext cx="9144000" cy="1655762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-105103"/>
            <a:ext cx="12192000" cy="6963103"/>
          </a:xfrm>
          <a:prstGeom prst="rect">
            <a:avLst/>
          </a:prstGeom>
          <a:solidFill>
            <a:schemeClr val="accent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 flipH="1">
            <a:off x="12192002" y="-106716"/>
            <a:ext cx="94591" cy="696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94" y="-105788"/>
            <a:ext cx="12192000" cy="6963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79" y="2411942"/>
            <a:ext cx="2530059" cy="25300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129605" y="5020927"/>
            <a:ext cx="1984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CK SONG, PhD</a:t>
            </a:r>
          </a:p>
        </p:txBody>
      </p:sp>
      <p:sp>
        <p:nvSpPr>
          <p:cNvPr id="22" name="Title 5">
            <a:extLst>
              <a:ext uri="{FF2B5EF4-FFF2-40B4-BE49-F238E27FC236}">
                <a16:creationId xmlns:a16="http://schemas.microsoft.com/office/drawing/2014/main" id="{2C007736-02C8-1543-764D-C25A82582845}"/>
              </a:ext>
            </a:extLst>
          </p:cNvPr>
          <p:cNvSpPr txBox="1">
            <a:spLocks/>
          </p:cNvSpPr>
          <p:nvPr/>
        </p:nvSpPr>
        <p:spPr>
          <a:xfrm>
            <a:off x="1460916" y="562685"/>
            <a:ext cx="9270167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800" b="1" i="0" u="none" strike="noStrike" kern="0" cap="none" spc="60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Arial Narrow" panose="020B0606020202030204" pitchFamily="34" charset="0"/>
                <a:ea typeface="Times New Roman" panose="02020603050405020304" pitchFamily="18" charset="0"/>
                <a:cs typeface="Calibri (Body)"/>
              </a:rPr>
              <a:t>THE </a:t>
            </a:r>
            <a:r>
              <a:rPr lang="en-ID" sz="2800" b="1" kern="0" spc="600" dirty="0">
                <a:solidFill>
                  <a:srgbClr val="37415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 (Body)"/>
              </a:rPr>
              <a:t>COACH</a:t>
            </a:r>
            <a:endParaRPr kumimoji="0" lang="en-ID" sz="2800" b="1" i="0" u="none" strike="noStrike" kern="0" cap="none" spc="60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Arial Narrow" panose="020B0606020202030204" pitchFamily="34" charset="0"/>
              <a:ea typeface="Times New Roman" panose="02020603050405020304" pitchFamily="18" charset="0"/>
              <a:cs typeface="Calibri (Body)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0" cap="none" spc="30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Arial Narrow" panose="020B0606020202030204" pitchFamily="34" charset="0"/>
                <a:ea typeface="Times New Roman" panose="02020603050405020304" pitchFamily="18" charset="0"/>
                <a:cs typeface="Calibri (Body)"/>
              </a:rPr>
              <a:t>Inspiring Executive Mastery for CEOs and C-Suite Clients</a:t>
            </a:r>
            <a:endParaRPr kumimoji="0" lang="en-ID" sz="2000" b="0" i="0" u="none" strike="noStrike" kern="1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4" name="Picture 61" descr="Mr Song Crop 3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8268" y="2723062"/>
            <a:ext cx="1666578" cy="1657891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F6C06E2-ABFB-72E4-A14D-131B2989B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49" y="0"/>
            <a:ext cx="753039" cy="139720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393FDF9-6FB7-E9E7-D543-6B877483F687}"/>
              </a:ext>
            </a:extLst>
          </p:cNvPr>
          <p:cNvSpPr txBox="1"/>
          <p:nvPr/>
        </p:nvSpPr>
        <p:spPr>
          <a:xfrm>
            <a:off x="169645" y="1264146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300" dirty="0">
                <a:latin typeface="Bebas Neue" panose="020B0606020202050201" pitchFamily="34" charset="77"/>
              </a:rPr>
              <a:t>WHO</a:t>
            </a:r>
          </a:p>
        </p:txBody>
      </p:sp>
    </p:spTree>
    <p:extLst>
      <p:ext uri="{BB962C8B-B14F-4D97-AF65-F5344CB8AC3E}">
        <p14:creationId xmlns:p14="http://schemas.microsoft.com/office/powerpoint/2010/main" val="125791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-2" y="1323573"/>
            <a:ext cx="12192000" cy="5930653"/>
          </a:xfrm>
          <a:prstGeom prst="rect">
            <a:avLst/>
          </a:prstGeom>
          <a:solidFill>
            <a:schemeClr val="accent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55712"/>
            <a:ext cx="12192000" cy="1516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2660" y="123244"/>
            <a:ext cx="10846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BENEFITS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Redefining the way things are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8980" y="3295309"/>
            <a:ext cx="99291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  <a:defRPr/>
            </a:pPr>
            <a:r>
              <a:rPr lang="en-US" sz="3600" b="1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  Achieve more growth and profitability </a:t>
            </a:r>
          </a:p>
          <a:p>
            <a:pPr marL="285750" lvl="0" indent="-285750">
              <a:buFont typeface="Wingdings" panose="05000000000000000000" pitchFamily="2" charset="2"/>
              <a:buChar char="§"/>
              <a:defRPr/>
            </a:pPr>
            <a:r>
              <a:rPr lang="en-US" sz="3600" b="1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  Build stronger relationships with stakeholders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cs typeface="Arial" panose="020B0604020202020204" pitchFamily="34" charset="0"/>
              </a:rPr>
              <a:t>      (customer,</a:t>
            </a:r>
            <a:r>
              <a:rPr kumimoji="0" lang="en-US" sz="36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cs typeface="Arial" panose="020B0604020202020204" pitchFamily="34" charset="0"/>
              </a:rPr>
              <a:t> employee, and management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cs typeface="Arial" panose="020B0604020202020204" pitchFamily="34" charset="0"/>
              </a:rPr>
              <a:t>team)</a:t>
            </a:r>
          </a:p>
          <a:p>
            <a:pPr marL="571500" indent="-571500">
              <a:buFont typeface="Wingdings" panose="05000000000000000000" pitchFamily="2" charset="2"/>
              <a:buChar char="§"/>
              <a:defRPr/>
            </a:pPr>
            <a:r>
              <a:rPr lang="en-US" sz="3600" b="1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Become a better and great leader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45636" y="1933676"/>
            <a:ext cx="7364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noProof="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COACHING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PROGRAM BENEFITS</a:t>
            </a:r>
          </a:p>
        </p:txBody>
      </p:sp>
    </p:spTree>
    <p:extLst>
      <p:ext uri="{BB962C8B-B14F-4D97-AF65-F5344CB8AC3E}">
        <p14:creationId xmlns:p14="http://schemas.microsoft.com/office/powerpoint/2010/main" val="112432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-10510" y="986981"/>
            <a:ext cx="12192000" cy="5930653"/>
          </a:xfrm>
          <a:prstGeom prst="rect">
            <a:avLst/>
          </a:prstGeom>
          <a:solidFill>
            <a:schemeClr val="accent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55712"/>
            <a:ext cx="12192000" cy="1516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72660" y="123244"/>
            <a:ext cx="10846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SERVICE</a:t>
            </a:r>
          </a:p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CEO COACHING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5636" y="2032420"/>
            <a:ext cx="7500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GROUP COACHING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5352" y="3219671"/>
            <a:ext cx="90412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YEAR PROGRAM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SESSIONS / YEAR (EVERY 3 MONTH)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SESSION 1 DAY PROGRAM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 20 PERSONS 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14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Gedung Bursa Efek Indonesia (BEI) di Jakarta. (B-Universe Photo/M Defriza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-10510" y="986981"/>
            <a:ext cx="12192000" cy="5930653"/>
          </a:xfrm>
          <a:prstGeom prst="rect">
            <a:avLst/>
          </a:prstGeom>
          <a:solidFill>
            <a:schemeClr val="accent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55712"/>
            <a:ext cx="12192000" cy="1516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2660" y="123244"/>
            <a:ext cx="10846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SERVICE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CEO COACHING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5636" y="2032420"/>
            <a:ext cx="7500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PREMIUM</a:t>
            </a:r>
            <a:r>
              <a:rPr kumimoji="0" lang="en-US" sz="4800" b="1" i="0" u="none" strike="noStrike" kern="1200" cap="none" spc="0" normalizeH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COACHING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0725" y="3267658"/>
            <a:ext cx="90412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YEAR PROGRAM</a:t>
            </a:r>
          </a:p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SESSIONS / YEAR </a:t>
            </a:r>
          </a:p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EACH SESSION </a:t>
            </a:r>
            <a:r>
              <a:rPr lang="en-US" sz="3200" b="1" noProof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DAY PROGRAM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MAX 4 PERSONS</a:t>
            </a:r>
          </a:p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 TAILOR MADE COACHING PROGRAM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29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88D2A440-1AC4-674F-98C8-0D2A383D4F5E}"/>
              </a:ext>
            </a:extLst>
          </p:cNvPr>
          <p:cNvSpPr txBox="1"/>
          <p:nvPr/>
        </p:nvSpPr>
        <p:spPr>
          <a:xfrm>
            <a:off x="3171078" y="995966"/>
            <a:ext cx="569214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217">
              <a:defRPr/>
            </a:pPr>
            <a:r>
              <a:rPr lang="en-US" sz="3000" b="1" spc="300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CCG MANAGEMENT TEAM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61F1D6-36A9-6840-9AEF-6D5530766CD1}"/>
              </a:ext>
            </a:extLst>
          </p:cNvPr>
          <p:cNvSpPr txBox="1"/>
          <p:nvPr/>
        </p:nvSpPr>
        <p:spPr>
          <a:xfrm>
            <a:off x="2762681" y="4964624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>
              <a:defRPr/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Erry Sunarli</a:t>
            </a:r>
            <a:endParaRPr lang="en-US" sz="2700" dirty="0">
              <a:solidFill>
                <a:srgbClr val="FFFFFF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8" b="20849"/>
          <a:stretch/>
        </p:blipFill>
        <p:spPr>
          <a:xfrm>
            <a:off x="2571133" y="2713383"/>
            <a:ext cx="1675898" cy="20427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0E61F1D6-36A9-6840-9AEF-6D5530766CD1}"/>
              </a:ext>
            </a:extLst>
          </p:cNvPr>
          <p:cNvSpPr txBox="1"/>
          <p:nvPr/>
        </p:nvSpPr>
        <p:spPr>
          <a:xfrm>
            <a:off x="2754825" y="5249238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>
              <a:defRPr/>
            </a:pPr>
            <a:r>
              <a:rPr lang="en-US" dirty="0">
                <a:solidFill>
                  <a:srgbClr val="FFFFFF"/>
                </a:solidFill>
                <a:latin typeface="Arial Narrow" panose="020B0606020202030204" pitchFamily="34" charset="0"/>
                <a:ea typeface="Roboto" panose="02000000000000000000" pitchFamily="2" charset="0"/>
                <a:cs typeface="Lato" panose="020F0502020204030203" pitchFamily="34" charset="0"/>
              </a:rPr>
              <a:t>GM Indonesia</a:t>
            </a:r>
            <a:endParaRPr lang="en-US" sz="2700" dirty="0">
              <a:solidFill>
                <a:srgbClr val="FFFFFF"/>
              </a:solidFill>
              <a:latin typeface="Arial Narrow" panose="020B0606020202030204" pitchFamily="34" charset="0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61F1D6-36A9-6840-9AEF-6D5530766CD1}"/>
              </a:ext>
            </a:extLst>
          </p:cNvPr>
          <p:cNvSpPr txBox="1"/>
          <p:nvPr/>
        </p:nvSpPr>
        <p:spPr>
          <a:xfrm>
            <a:off x="7706736" y="4937817"/>
            <a:ext cx="1616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>
              <a:defRPr/>
            </a:pPr>
            <a:r>
              <a:rPr lang="en-US" dirty="0">
                <a:solidFill>
                  <a:srgbClr val="FFFFFF"/>
                </a:solidFill>
                <a:latin typeface="Arial Narrow" panose="020B0606020202030204" pitchFamily="34" charset="0"/>
                <a:ea typeface="Roboto" panose="02000000000000000000" pitchFamily="2" charset="0"/>
                <a:cs typeface="Lato" panose="020F0502020204030203" pitchFamily="34" charset="0"/>
              </a:rPr>
              <a:t>Sandi Benedicta</a:t>
            </a:r>
          </a:p>
          <a:p>
            <a:pPr algn="ctr" defTabSz="914217">
              <a:defRPr/>
            </a:pPr>
            <a:r>
              <a:rPr lang="en-US" dirty="0">
                <a:solidFill>
                  <a:srgbClr val="FFFFFF"/>
                </a:solidFill>
                <a:latin typeface="Arial Narrow" panose="020B0606020202030204" pitchFamily="34" charset="0"/>
                <a:ea typeface="Roboto" panose="02000000000000000000" pitchFamily="2" charset="0"/>
                <a:cs typeface="Lato" panose="020F0502020204030203" pitchFamily="34" charset="0"/>
              </a:rPr>
              <a:t>Creation Director</a:t>
            </a:r>
            <a:endParaRPr lang="en-US" sz="2700" dirty="0">
              <a:solidFill>
                <a:srgbClr val="FFFFFF"/>
              </a:solidFill>
              <a:latin typeface="Arial Narrow" panose="020B0606020202030204" pitchFamily="34" charset="0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1F1D6-36A9-6840-9AEF-6D5530766CD1}"/>
              </a:ext>
            </a:extLst>
          </p:cNvPr>
          <p:cNvSpPr txBox="1"/>
          <p:nvPr/>
        </p:nvSpPr>
        <p:spPr>
          <a:xfrm>
            <a:off x="5495618" y="49580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>
              <a:defRPr/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JS OH</a:t>
            </a:r>
            <a:endParaRPr lang="en-US" sz="2700" dirty="0">
              <a:solidFill>
                <a:srgbClr val="FFFFFF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61F1D6-36A9-6840-9AEF-6D5530766CD1}"/>
              </a:ext>
            </a:extLst>
          </p:cNvPr>
          <p:cNvSpPr txBox="1"/>
          <p:nvPr/>
        </p:nvSpPr>
        <p:spPr>
          <a:xfrm>
            <a:off x="5413383" y="5242614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>
              <a:defRPr/>
            </a:pPr>
            <a:r>
              <a:rPr lang="en-US" dirty="0">
                <a:solidFill>
                  <a:srgbClr val="FFFFFF"/>
                </a:solidFill>
                <a:latin typeface="Arial Narrow" panose="020B0606020202030204" pitchFamily="34" charset="0"/>
                <a:ea typeface="Roboto" panose="02000000000000000000" pitchFamily="2" charset="0"/>
                <a:cs typeface="Lato" panose="020F0502020204030203" pitchFamily="34" charset="0"/>
              </a:rPr>
              <a:t>GM Korea</a:t>
            </a:r>
            <a:endParaRPr lang="en-US" sz="2700" dirty="0">
              <a:solidFill>
                <a:srgbClr val="FFFFFF"/>
              </a:solidFill>
              <a:latin typeface="Arial Narrow" panose="020B0606020202030204" pitchFamily="34" charset="0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9" name="Picture Placeholder 8"/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6" b="2406"/>
          <a:stretch>
            <a:fillRect/>
          </a:stretch>
        </p:blipFill>
        <p:spPr>
          <a:xfrm>
            <a:off x="5081011" y="2713382"/>
            <a:ext cx="1669059" cy="20570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2" name="Picture 4" descr="695379649410177206254319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2" t="2035" r="5536" b="-2035"/>
          <a:stretch/>
        </p:blipFill>
        <p:spPr bwMode="auto">
          <a:xfrm rot="5400000">
            <a:off x="7431513" y="2875681"/>
            <a:ext cx="2067278" cy="17228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1091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800331-F4DB-CBF7-FB44-A0605AE4B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6" y="0"/>
            <a:ext cx="1693445" cy="1693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E7BF55-7EE8-1275-2899-0E7CEB784AC2}"/>
              </a:ext>
            </a:extLst>
          </p:cNvPr>
          <p:cNvSpPr txBox="1"/>
          <p:nvPr/>
        </p:nvSpPr>
        <p:spPr>
          <a:xfrm>
            <a:off x="334535" y="1264146"/>
            <a:ext cx="1630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bas Neue" panose="020B0606020202050201" pitchFamily="34" charset="77"/>
                <a:ea typeface="+mn-ea"/>
                <a:cs typeface="+mn-cs"/>
              </a:rPr>
              <a:t>WHERE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927C6-7555-AE8A-BF62-6BFFFB5B5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741" y="4152272"/>
            <a:ext cx="1685144" cy="1685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B7AC58-9639-4D86-54FC-73A290456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741" y="1781383"/>
            <a:ext cx="1685144" cy="16851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AFA243-47CF-878A-044C-DC8C1855E8D4}"/>
              </a:ext>
            </a:extLst>
          </p:cNvPr>
          <p:cNvSpPr txBox="1"/>
          <p:nvPr/>
        </p:nvSpPr>
        <p:spPr>
          <a:xfrm>
            <a:off x="2375165" y="3466527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3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bas Neue" panose="020B0606020202050201" pitchFamily="34" charset="77"/>
                <a:ea typeface="+mn-ea"/>
                <a:cs typeface="+mn-cs"/>
              </a:rPr>
              <a:t>JAKARTA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3EEFB-3403-43B6-C393-217B1CB12105}"/>
              </a:ext>
            </a:extLst>
          </p:cNvPr>
          <p:cNvSpPr txBox="1"/>
          <p:nvPr/>
        </p:nvSpPr>
        <p:spPr>
          <a:xfrm>
            <a:off x="2531458" y="5811396"/>
            <a:ext cx="955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3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bas Neue" panose="020B0606020202050201" pitchFamily="34" charset="77"/>
                <a:ea typeface="+mn-ea"/>
                <a:cs typeface="+mn-cs"/>
              </a:rPr>
              <a:t>SEOUL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0CCC2023-F4D2-DDD2-DD0B-3538398CA69B}"/>
              </a:ext>
            </a:extLst>
          </p:cNvPr>
          <p:cNvSpPr txBox="1">
            <a:spLocks/>
          </p:cNvSpPr>
          <p:nvPr/>
        </p:nvSpPr>
        <p:spPr>
          <a:xfrm>
            <a:off x="1714861" y="710754"/>
            <a:ext cx="9709318" cy="84654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2800" b="1" kern="0" spc="300" dirty="0">
                <a:solidFill>
                  <a:srgbClr val="37415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 (Body)"/>
              </a:rPr>
              <a:t>OFFICE LOCATION</a:t>
            </a:r>
            <a:endParaRPr kumimoji="0" lang="en-ID" sz="2800" b="1" i="0" u="none" strike="noStrike" kern="0" cap="none" spc="30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Arial Narrow" panose="020B0606020202030204" pitchFamily="34" charset="0"/>
              <a:ea typeface="Times New Roman" panose="02020603050405020304" pitchFamily="18" charset="0"/>
              <a:cs typeface="Calibri (Body)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C5AE4-1817-9B81-AC90-95BA7E321306}"/>
              </a:ext>
            </a:extLst>
          </p:cNvPr>
          <p:cNvSpPr txBox="1"/>
          <p:nvPr/>
        </p:nvSpPr>
        <p:spPr>
          <a:xfrm>
            <a:off x="4685488" y="2623955"/>
            <a:ext cx="6820020" cy="423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en-ID" kern="0" spc="30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 OFFICE</a:t>
            </a:r>
            <a:endParaRPr kumimoji="0" lang="en-ID" sz="1800" b="0" u="none" strike="noStrike" kern="1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EAD892-D0AA-06CB-5780-2F68DAF783BA}"/>
              </a:ext>
            </a:extLst>
          </p:cNvPr>
          <p:cNvSpPr txBox="1"/>
          <p:nvPr/>
        </p:nvSpPr>
        <p:spPr>
          <a:xfrm>
            <a:off x="4039445" y="4783183"/>
            <a:ext cx="7697853" cy="423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en-ID" kern="0" spc="3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BRANCH OFFICE</a:t>
            </a:r>
            <a:endParaRPr kumimoji="0" lang="en-ID" sz="1800" b="0" u="none" strike="noStrike" kern="1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07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TSQ - Walden Dark">
      <a:dk1>
        <a:srgbClr val="FFFFFF"/>
      </a:dk1>
      <a:lt1>
        <a:srgbClr val="FFFFFF"/>
      </a:lt1>
      <a:dk2>
        <a:srgbClr val="FFFFFF"/>
      </a:dk2>
      <a:lt2>
        <a:srgbClr val="363D48"/>
      </a:lt2>
      <a:accent1>
        <a:srgbClr val="264D89"/>
      </a:accent1>
      <a:accent2>
        <a:srgbClr val="3E67AA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5568</TotalTime>
  <Words>501</Words>
  <Application>Microsoft Office PowerPoint</Application>
  <PresentationFormat>Widescreen</PresentationFormat>
  <Paragraphs>110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Arial Narrow</vt:lpstr>
      <vt:lpstr>Bebas Neue</vt:lpstr>
      <vt:lpstr>Calibri</vt:lpstr>
      <vt:lpstr>Calibri Light</vt:lpstr>
      <vt:lpstr>Montserrat</vt:lpstr>
      <vt:lpstr>Roboto</vt:lpstr>
      <vt:lpstr>Wingdings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Erry Sunarli</dc:creator>
  <cp:lastModifiedBy>SPD Management</cp:lastModifiedBy>
  <cp:revision>314</cp:revision>
  <cp:lastPrinted>2024-07-22T03:16:16Z</cp:lastPrinted>
  <dcterms:created xsi:type="dcterms:W3CDTF">2023-10-23T03:25:10Z</dcterms:created>
  <dcterms:modified xsi:type="dcterms:W3CDTF">2026-10-16T09:03:37Z</dcterms:modified>
</cp:coreProperties>
</file>